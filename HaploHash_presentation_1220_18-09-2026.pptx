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4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embeddedFontLst>
    <p:embeddedFont>
      <p:font typeface="Raleway"/>
      <p:regular r:id="rId16"/>
      <p:bold r:id="rId17"/>
      <p:italic r:id="rId18"/>
      <p:boldItalic r:id="rId19"/>
    </p:embeddedFont>
    <p:embeddedFont>
      <p:font typeface="Lato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regular.fntdata"/><Relationship Id="rId11" Type="http://schemas.openxmlformats.org/officeDocument/2006/relationships/slide" Target="slides/slide6.xml"/><Relationship Id="rId22" Type="http://schemas.openxmlformats.org/officeDocument/2006/relationships/font" Target="fonts/Lato-italic.fntdata"/><Relationship Id="rId10" Type="http://schemas.openxmlformats.org/officeDocument/2006/relationships/slide" Target="slides/slide5.xml"/><Relationship Id="rId21" Type="http://schemas.openxmlformats.org/officeDocument/2006/relationships/font" Target="fonts/Lato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schemas.openxmlformats.org/officeDocument/2006/relationships/font" Target="fonts/Lato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Raleway-bold.fntdata"/><Relationship Id="rId16" Type="http://schemas.openxmlformats.org/officeDocument/2006/relationships/font" Target="fonts/Raleway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Raleway-boldItalic.fntdata"/><Relationship Id="rId6" Type="http://schemas.openxmlformats.org/officeDocument/2006/relationships/slide" Target="slides/slide1.xml"/><Relationship Id="rId18" Type="http://schemas.openxmlformats.org/officeDocument/2006/relationships/font" Target="fonts/Raleway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1f88252dc4_0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1f88252dc4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fb9c4f8e1a_11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3fb9c4f8e1a_11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fb9da514cb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fb9da514cb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fb9c4f8e1a_11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3fb9c4f8e1a_11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fb9c4f8e1a_15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3fb9c4f8e1a_15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relationship flips before and after log transform</a:t>
            </a:r>
            <a:br>
              <a:rPr lang="es"/>
            </a:br>
            <a:r>
              <a:rPr lang="es"/>
              <a:t>effect size is not 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fb9c4f8e1a_11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g3fb9c4f8e1a_11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900">
                <a:solidFill>
                  <a:schemeClr val="dk1"/>
                </a:solidFill>
              </a:rPr>
              <a:t>X-axis: 10 equal-sized groups of haploblocks (genome-wide, not per-chromosome), sorted by AVI risk score. </a:t>
            </a:r>
            <a:endParaRPr sz="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900">
                <a:solidFill>
                  <a:schemeClr val="dk1"/>
                </a:solidFill>
              </a:rPr>
              <a:t>Y-axis: real eQTL density (GTEx).</a:t>
            </a:r>
            <a:endParaRPr sz="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fb9c4f8e1a_15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3fb9c4f8e1a_15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hypothesis: most constrained haploblocks are </a:t>
            </a:r>
            <a:r>
              <a:rPr lang="es"/>
              <a:t>likely</a:t>
            </a:r>
            <a:r>
              <a:rPr lang="es"/>
              <a:t> the most deleterious if mutated. </a:t>
            </a:r>
            <a:br>
              <a:rPr lang="es"/>
            </a:br>
            <a:r>
              <a:rPr lang="es"/>
              <a:t>problem: the most constrained regions cna’t be interrogated in humans because there’s no natural variation.</a:t>
            </a:r>
            <a:br>
              <a:rPr lang="es"/>
            </a:br>
            <a:r>
              <a:rPr lang="es"/>
              <a:t>method: we use alphagenome atlas to screen perturbations across haploblocks, including the blocks where no variation is empirically observed. </a:t>
            </a:r>
            <a:br>
              <a:rPr lang="es"/>
            </a:br>
            <a:r>
              <a:rPr lang="es"/>
              <a:t>result: statistically </a:t>
            </a:r>
            <a:r>
              <a:rPr lang="es"/>
              <a:t>significant across all specifications, with unclear effect size and opposite of expected sign. </a:t>
            </a:r>
            <a:r>
              <a:rPr lang="es"/>
              <a:t>  </a:t>
            </a:r>
            <a:br>
              <a:rPr lang="es"/>
            </a:br>
            <a:r>
              <a:rPr lang="es"/>
              <a:t>quite a robust result: we try measuring block-level AVI score a few ways, and we always see a positive slope</a:t>
            </a:r>
            <a:br>
              <a:rPr lang="es"/>
            </a:br>
            <a:r>
              <a:rPr lang="es"/>
              <a:t>discussion: It’s a non-meaningful findind, but not dispositive. It could mean that alphagenome is not well trained on variants where not much empirical variation is observed. allele frequency issue identified by marcus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1f88252dc4_0_2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" name="Google Shape;229;g1f88252dc4_0_2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f8e37242a2_3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" name="Google Shape;241;g3f8e37242a2_3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relationship flips before and after log transform</a:t>
            </a:r>
            <a:br>
              <a:rPr lang="es"/>
            </a:br>
            <a:r>
              <a:rPr lang="es"/>
              <a:t>effect size is not 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jpg"/><Relationship Id="rId3" Type="http://schemas.openxmlformats.org/officeDocument/2006/relationships/slide" Target="/ppt/slides/slide2.xml"/><Relationship Id="rId4" Type="http://schemas.openxmlformats.org/officeDocument/2006/relationships/slide" Target="/ppt/slides/slide2.xml"/><Relationship Id="rId5" Type="http://schemas.openxmlformats.org/officeDocument/2006/relationships/slide" Target="/ppt/slides/slide2.xml"/><Relationship Id="rId6" Type="http://schemas.openxmlformats.org/officeDocument/2006/relationships/slide" Target="/ppt/slides/slide2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slide" Target="/ppt/slides/slide2.xml"/><Relationship Id="rId3" Type="http://schemas.openxmlformats.org/officeDocument/2006/relationships/slide" Target="/ppt/slides/slide2.xml"/><Relationship Id="rId4" Type="http://schemas.openxmlformats.org/officeDocument/2006/relationships/slide" Target="/ppt/slides/slide2.xml"/><Relationship Id="rId5" Type="http://schemas.openxmlformats.org/officeDocument/2006/relationships/slide" Target="/ppt/slides/slide2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slide" Target="/ppt/slides/slide2.xml"/><Relationship Id="rId3" Type="http://schemas.openxmlformats.org/officeDocument/2006/relationships/slide" Target="/ppt/slides/slide2.xml"/><Relationship Id="rId4" Type="http://schemas.openxmlformats.org/officeDocument/2006/relationships/slide" Target="/ppt/slides/slide2.xml"/><Relationship Id="rId5" Type="http://schemas.openxmlformats.org/officeDocument/2006/relationships/slide" Target="/ppt/slides/slide2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slide" Target="/ppt/slides/slide2.xml"/><Relationship Id="rId3" Type="http://schemas.openxmlformats.org/officeDocument/2006/relationships/slide" Target="/ppt/slides/slide2.xml"/><Relationship Id="rId4" Type="http://schemas.openxmlformats.org/officeDocument/2006/relationships/slide" Target="/ppt/slides/slide2.xml"/><Relationship Id="rId5" Type="http://schemas.openxmlformats.org/officeDocument/2006/relationships/slide" Target="/ppt/slides/slide2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slide" Target="/ppt/slides/slide2.xml"/><Relationship Id="rId4" Type="http://schemas.openxmlformats.org/officeDocument/2006/relationships/slide" Target="/ppt/slides/slide2.xml"/><Relationship Id="rId5" Type="http://schemas.openxmlformats.org/officeDocument/2006/relationships/slide" Target="/ppt/slides/slide2.xml"/><Relationship Id="rId6" Type="http://schemas.openxmlformats.org/officeDocument/2006/relationships/slide" Target="/ppt/slides/slide2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slide" Target="/ppt/slides/slide2.xml"/><Relationship Id="rId3" Type="http://schemas.openxmlformats.org/officeDocument/2006/relationships/slide" Target="/ppt/slides/slide2.xml"/><Relationship Id="rId4" Type="http://schemas.openxmlformats.org/officeDocument/2006/relationships/slide" Target="/ppt/slides/slide2.xml"/><Relationship Id="rId5" Type="http://schemas.openxmlformats.org/officeDocument/2006/relationships/slide" Target="/ppt/slides/slide2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slide" Target="/ppt/slides/slide2.xml"/><Relationship Id="rId3" Type="http://schemas.openxmlformats.org/officeDocument/2006/relationships/slide" Target="/ppt/slides/slide2.xml"/><Relationship Id="rId4" Type="http://schemas.openxmlformats.org/officeDocument/2006/relationships/slide" Target="/ppt/slides/slide2.xml"/><Relationship Id="rId5" Type="http://schemas.openxmlformats.org/officeDocument/2006/relationships/slide" Target="/ppt/slides/slide2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slide" Target="/ppt/slides/slide2.xml"/><Relationship Id="rId3" Type="http://schemas.openxmlformats.org/officeDocument/2006/relationships/slide" Target="/ppt/slides/slide2.xml"/><Relationship Id="rId4" Type="http://schemas.openxmlformats.org/officeDocument/2006/relationships/slide" Target="/ppt/slides/slide2.xml"/><Relationship Id="rId5" Type="http://schemas.openxmlformats.org/officeDocument/2006/relationships/slide" Target="/ppt/slides/slide2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slide" Target="/ppt/slides/slide2.xml"/><Relationship Id="rId3" Type="http://schemas.openxmlformats.org/officeDocument/2006/relationships/slide" Target="/ppt/slides/slide2.xml"/><Relationship Id="rId4" Type="http://schemas.openxmlformats.org/officeDocument/2006/relationships/slide" Target="/ppt/slides/slide2.xml"/><Relationship Id="rId5" Type="http://schemas.openxmlformats.org/officeDocument/2006/relationships/slide" Target="/ppt/slides/slide2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slide" Target="/ppt/slides/slide2.xml"/><Relationship Id="rId3" Type="http://schemas.openxmlformats.org/officeDocument/2006/relationships/slide" Target="/ppt/slides/slide2.xml"/><Relationship Id="rId4" Type="http://schemas.openxmlformats.org/officeDocument/2006/relationships/slide" Target="/ppt/slides/slide2.xml"/><Relationship Id="rId5" Type="http://schemas.openxmlformats.org/officeDocument/2006/relationships/slide" Target="/ppt/slides/slide2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slide" Target="/ppt/slides/slide2.xml"/><Relationship Id="rId3" Type="http://schemas.openxmlformats.org/officeDocument/2006/relationships/slide" Target="/ppt/slides/slide2.xml"/><Relationship Id="rId4" Type="http://schemas.openxmlformats.org/officeDocument/2006/relationships/slide" Target="/ppt/slides/slide2.xml"/><Relationship Id="rId5" Type="http://schemas.openxmlformats.org/officeDocument/2006/relationships/slide" Target="/ppt/slides/slide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slide" Target="/ppt/slides/slide2.xml"/><Relationship Id="rId3" Type="http://schemas.openxmlformats.org/officeDocument/2006/relationships/slide" Target="/ppt/slides/slide2.xml"/><Relationship Id="rId4" Type="http://schemas.openxmlformats.org/officeDocument/2006/relationships/slide" Target="/ppt/slides/slide2.xml"/><Relationship Id="rId5" Type="http://schemas.openxmlformats.org/officeDocument/2006/relationships/slide" Target="/ppt/slides/slide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slide" Target="/ppt/slides/slide2.xml"/><Relationship Id="rId3" Type="http://schemas.openxmlformats.org/officeDocument/2006/relationships/slide" Target="/ppt/slides/slide2.xml"/><Relationship Id="rId4" Type="http://schemas.openxmlformats.org/officeDocument/2006/relationships/slide" Target="/ppt/slides/slide2.xml"/><Relationship Id="rId5" Type="http://schemas.openxmlformats.org/officeDocument/2006/relationships/slide" Target="/ppt/slides/slide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slide" Target="/ppt/slides/slide2.xml"/><Relationship Id="rId3" Type="http://schemas.openxmlformats.org/officeDocument/2006/relationships/slide" Target="/ppt/slides/slide2.xml"/><Relationship Id="rId4" Type="http://schemas.openxmlformats.org/officeDocument/2006/relationships/slide" Target="/ppt/slides/slide2.xml"/><Relationship Id="rId5" Type="http://schemas.openxmlformats.org/officeDocument/2006/relationships/slide" Target="/ppt/slides/slide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hutterstock_429987889_edited.jpg" id="10" name="Google Shape;10;p2"/>
          <p:cNvPicPr preferRelativeResize="0"/>
          <p:nvPr/>
        </p:nvPicPr>
        <p:blipFill rotWithShape="1">
          <a:blip r:embed="rId2">
            <a:alphaModFix/>
          </a:blip>
          <a:srcRect b="23591" l="0" r="0" t="21800"/>
          <a:stretch/>
        </p:blipFill>
        <p:spPr>
          <a:xfrm>
            <a:off x="0" y="487825"/>
            <a:ext cx="9144000" cy="4655676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2" name="Google Shape;12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3" name="Google Shape;13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" name="Google Shape;15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6" name="Google Shape;16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7" name="Google Shape;17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18" name="Google Shape;18;p2"/>
          <p:cNvSpPr txBox="1"/>
          <p:nvPr/>
        </p:nvSpPr>
        <p:spPr>
          <a:xfrm>
            <a:off x="226550" y="78500"/>
            <a:ext cx="998100" cy="32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00">
                <a:latin typeface="Raleway"/>
                <a:ea typeface="Raleway"/>
                <a:cs typeface="Raleway"/>
                <a:sym typeface="Raleway"/>
              </a:rPr>
              <a:t>Confidencial</a:t>
            </a:r>
            <a:endParaRPr b="1" sz="600"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9" name="Google Shape;19;p2"/>
          <p:cNvSpPr txBox="1"/>
          <p:nvPr/>
        </p:nvSpPr>
        <p:spPr>
          <a:xfrm>
            <a:off x="1296767" y="78500"/>
            <a:ext cx="2100600" cy="32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00">
                <a:latin typeface="Raleway"/>
                <a:ea typeface="Raleway"/>
                <a:cs typeface="Raleway"/>
                <a:sym typeface="Raleway"/>
              </a:rPr>
              <a:t>Personalizado para </a:t>
            </a:r>
            <a:r>
              <a:rPr b="1" lang="es" sz="600">
                <a:latin typeface="Raleway"/>
                <a:ea typeface="Raleway"/>
                <a:cs typeface="Raleway"/>
                <a:sym typeface="Raleway"/>
              </a:rPr>
              <a:t>Nombre de la empresa</a:t>
            </a:r>
            <a:endParaRPr sz="600"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0" name="Google Shape;20;p2"/>
          <p:cNvSpPr txBox="1"/>
          <p:nvPr/>
        </p:nvSpPr>
        <p:spPr>
          <a:xfrm>
            <a:off x="8213935" y="78500"/>
            <a:ext cx="705900" cy="32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s" sz="600">
                <a:latin typeface="Raleway"/>
                <a:ea typeface="Raleway"/>
                <a:cs typeface="Raleway"/>
                <a:sym typeface="Raleway"/>
              </a:rPr>
              <a:t>Versión 1.0</a:t>
            </a:r>
            <a:endParaRPr b="1" sz="600"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_alt1">
  <p:cSld name="TITLE_1">
    <p:bg>
      <p:bgPr>
        <a:solidFill>
          <a:schemeClr val="lt2"/>
        </a:solidFill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hutterstock_429987889_edited.jpg" id="22" name="Google Shape;22;p3"/>
          <p:cNvPicPr preferRelativeResize="0"/>
          <p:nvPr/>
        </p:nvPicPr>
        <p:blipFill rotWithShape="1">
          <a:blip r:embed="rId2">
            <a:alphaModFix/>
          </a:blip>
          <a:srcRect b="23591" l="0" r="0" t="21800"/>
          <a:stretch/>
        </p:blipFill>
        <p:spPr>
          <a:xfrm>
            <a:off x="0" y="487825"/>
            <a:ext cx="9144000" cy="4655676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4" name="Google Shape;24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5" name="Google Shape;25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7" name="Google Shape;27;p3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8" name="Google Shape;28;p3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29" name="Google Shape;29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30" name="Google Shape;30;p3">
            <a:hlinkClick action="ppaction://hlinksldjump" r:id="rId3"/>
          </p:cNvPr>
          <p:cNvSpPr/>
          <p:nvPr/>
        </p:nvSpPr>
        <p:spPr>
          <a:xfrm>
            <a:off x="8280450" y="0"/>
            <a:ext cx="863400" cy="454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1" name="Google Shape;31;p3">
            <a:hlinkClick action="ppaction://hlinksldjump" r:id="rId4"/>
          </p:cNvPr>
          <p:cNvCxnSpPr/>
          <p:nvPr/>
        </p:nvCxnSpPr>
        <p:spPr>
          <a:xfrm>
            <a:off x="8598817" y="216350"/>
            <a:ext cx="2163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" name="Google Shape;32;p3">
            <a:hlinkClick action="ppaction://hlinksldjump" r:id="rId5"/>
          </p:cNvPr>
          <p:cNvCxnSpPr/>
          <p:nvPr/>
        </p:nvCxnSpPr>
        <p:spPr>
          <a:xfrm>
            <a:off x="8598817" y="250138"/>
            <a:ext cx="2163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" name="Google Shape;33;p3">
            <a:hlinkClick action="ppaction://hlinksldjump" r:id="rId6"/>
          </p:cNvPr>
          <p:cNvCxnSpPr/>
          <p:nvPr/>
        </p:nvCxnSpPr>
        <p:spPr>
          <a:xfrm>
            <a:off x="8598817" y="283925"/>
            <a:ext cx="2163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Google Shape;3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6" name="Google Shape;3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8" name="Google Shape;38;p4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9" name="Google Shape;39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40" name="Google Shape;40;p4">
            <a:hlinkClick action="ppaction://hlinksldjump" r:id="rId2"/>
          </p:cNvPr>
          <p:cNvSpPr/>
          <p:nvPr/>
        </p:nvSpPr>
        <p:spPr>
          <a:xfrm>
            <a:off x="8280450" y="0"/>
            <a:ext cx="863400" cy="454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1" name="Google Shape;41;p4">
            <a:hlinkClick action="ppaction://hlinksldjump" r:id="rId3"/>
          </p:cNvPr>
          <p:cNvCxnSpPr/>
          <p:nvPr/>
        </p:nvCxnSpPr>
        <p:spPr>
          <a:xfrm>
            <a:off x="8598817" y="216350"/>
            <a:ext cx="2163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" name="Google Shape;42;p4">
            <a:hlinkClick action="ppaction://hlinksldjump" r:id="rId4"/>
          </p:cNvPr>
          <p:cNvCxnSpPr/>
          <p:nvPr/>
        </p:nvCxnSpPr>
        <p:spPr>
          <a:xfrm>
            <a:off x="8598817" y="250138"/>
            <a:ext cx="2163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" name="Google Shape;43;p4">
            <a:hlinkClick action="ppaction://hlinksldjump" r:id="rId5"/>
          </p:cNvPr>
          <p:cNvCxnSpPr/>
          <p:nvPr/>
        </p:nvCxnSpPr>
        <p:spPr>
          <a:xfrm>
            <a:off x="8598817" y="283925"/>
            <a:ext cx="2163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6" name="Google Shape;46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7" name="Google Shape;47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" name="Google Shape;48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9" name="Google Shape;49;p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0" name="Google Shape;50;p5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1" name="Google Shape;51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52" name="Google Shape;52;p5">
            <a:hlinkClick action="ppaction://hlinksldjump" r:id="rId2"/>
          </p:cNvPr>
          <p:cNvSpPr/>
          <p:nvPr/>
        </p:nvSpPr>
        <p:spPr>
          <a:xfrm>
            <a:off x="8280450" y="0"/>
            <a:ext cx="863400" cy="454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3" name="Google Shape;53;p5">
            <a:hlinkClick action="ppaction://hlinksldjump" r:id="rId3"/>
          </p:cNvPr>
          <p:cNvCxnSpPr/>
          <p:nvPr/>
        </p:nvCxnSpPr>
        <p:spPr>
          <a:xfrm>
            <a:off x="8598817" y="216350"/>
            <a:ext cx="2163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4" name="Google Shape;54;p5">
            <a:hlinkClick action="ppaction://hlinksldjump" r:id="rId4"/>
          </p:cNvPr>
          <p:cNvCxnSpPr/>
          <p:nvPr/>
        </p:nvCxnSpPr>
        <p:spPr>
          <a:xfrm>
            <a:off x="8598817" y="250138"/>
            <a:ext cx="2163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5" name="Google Shape;55;p5">
            <a:hlinkClick action="ppaction://hlinksldjump" r:id="rId5"/>
          </p:cNvPr>
          <p:cNvCxnSpPr/>
          <p:nvPr/>
        </p:nvCxnSpPr>
        <p:spPr>
          <a:xfrm>
            <a:off x="8598817" y="283925"/>
            <a:ext cx="2163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ody only">
  <p:cSld name="TITLE_AND_BODY_1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59" name="Google Shape;59;p6">
            <a:hlinkClick action="ppaction://hlinksldjump" r:id="rId2"/>
          </p:cNvPr>
          <p:cNvSpPr/>
          <p:nvPr/>
        </p:nvSpPr>
        <p:spPr>
          <a:xfrm>
            <a:off x="8280450" y="0"/>
            <a:ext cx="863400" cy="454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0" name="Google Shape;60;p6">
            <a:hlinkClick action="ppaction://hlinksldjump" r:id="rId3"/>
          </p:cNvPr>
          <p:cNvCxnSpPr/>
          <p:nvPr/>
        </p:nvCxnSpPr>
        <p:spPr>
          <a:xfrm>
            <a:off x="8598817" y="216350"/>
            <a:ext cx="2163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1" name="Google Shape;61;p6">
            <a:hlinkClick action="ppaction://hlinksldjump" r:id="rId4"/>
          </p:cNvPr>
          <p:cNvCxnSpPr/>
          <p:nvPr/>
        </p:nvCxnSpPr>
        <p:spPr>
          <a:xfrm>
            <a:off x="8598817" y="250138"/>
            <a:ext cx="2163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2" name="Google Shape;62;p6">
            <a:hlinkClick action="ppaction://hlinksldjump" r:id="rId5"/>
          </p:cNvPr>
          <p:cNvCxnSpPr/>
          <p:nvPr/>
        </p:nvCxnSpPr>
        <p:spPr>
          <a:xfrm>
            <a:off x="8598817" y="283925"/>
            <a:ext cx="2163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3" name="Google Shape;63;p6"/>
          <p:cNvSpPr txBox="1"/>
          <p:nvPr>
            <p:ph idx="1" type="body"/>
          </p:nvPr>
        </p:nvSpPr>
        <p:spPr>
          <a:xfrm>
            <a:off x="729450" y="1068650"/>
            <a:ext cx="7688700" cy="103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rtl="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rtl="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rtl="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rtl="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rtl="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_alt2">
  <p:cSld name="TITLE_AND_BODY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hutterstock_31891705.jpg" id="65" name="Google Shape;65;p7"/>
          <p:cNvPicPr preferRelativeResize="0"/>
          <p:nvPr/>
        </p:nvPicPr>
        <p:blipFill rotWithShape="1">
          <a:blip r:embed="rId2">
            <a:alphaModFix/>
          </a:blip>
          <a:srcRect b="11971" l="0" r="0" t="11971"/>
          <a:stretch/>
        </p:blipFill>
        <p:spPr>
          <a:xfrm>
            <a:off x="0" y="487825"/>
            <a:ext cx="9143999" cy="4655673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rgbClr val="FFFFFF"/>
                </a:solidFill>
              </a:defRPr>
            </a:lvl1pPr>
            <a:lvl2pPr lvl="1" rtl="0">
              <a:buNone/>
              <a:defRPr>
                <a:solidFill>
                  <a:srgbClr val="FFFFFF"/>
                </a:solidFill>
              </a:defRPr>
            </a:lvl2pPr>
            <a:lvl3pPr lvl="2" rtl="0">
              <a:buNone/>
              <a:defRPr>
                <a:solidFill>
                  <a:srgbClr val="FFFFFF"/>
                </a:solidFill>
              </a:defRPr>
            </a:lvl3pPr>
            <a:lvl4pPr lvl="3" rtl="0">
              <a:buNone/>
              <a:defRPr>
                <a:solidFill>
                  <a:srgbClr val="FFFFFF"/>
                </a:solidFill>
              </a:defRPr>
            </a:lvl4pPr>
            <a:lvl5pPr lvl="4" rtl="0">
              <a:buNone/>
              <a:defRPr>
                <a:solidFill>
                  <a:srgbClr val="FFFFFF"/>
                </a:solidFill>
              </a:defRPr>
            </a:lvl5pPr>
            <a:lvl6pPr lvl="5" rtl="0">
              <a:buNone/>
              <a:defRPr>
                <a:solidFill>
                  <a:srgbClr val="FFFFFF"/>
                </a:solidFill>
              </a:defRPr>
            </a:lvl6pPr>
            <a:lvl7pPr lvl="6" rtl="0">
              <a:buNone/>
              <a:defRPr>
                <a:solidFill>
                  <a:srgbClr val="FFFFFF"/>
                </a:solidFill>
              </a:defRPr>
            </a:lvl7pPr>
            <a:lvl8pPr lvl="7" rtl="0">
              <a:buNone/>
              <a:defRPr>
                <a:solidFill>
                  <a:srgbClr val="FFFFFF"/>
                </a:solidFill>
              </a:defRPr>
            </a:lvl8pPr>
            <a:lvl9pPr lvl="8" rtl="0">
              <a:buNone/>
              <a:defRPr>
                <a:solidFill>
                  <a:srgbClr val="FFFFFF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68" name="Google Shape;68;p7">
            <a:hlinkClick action="ppaction://hlinksldjump" r:id="rId3"/>
          </p:cNvPr>
          <p:cNvSpPr/>
          <p:nvPr/>
        </p:nvSpPr>
        <p:spPr>
          <a:xfrm>
            <a:off x="8280450" y="0"/>
            <a:ext cx="863400" cy="454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9" name="Google Shape;69;p7">
            <a:hlinkClick action="ppaction://hlinksldjump" r:id="rId4"/>
          </p:cNvPr>
          <p:cNvCxnSpPr/>
          <p:nvPr/>
        </p:nvCxnSpPr>
        <p:spPr>
          <a:xfrm>
            <a:off x="8598817" y="216350"/>
            <a:ext cx="2163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0" name="Google Shape;70;p7">
            <a:hlinkClick action="ppaction://hlinksldjump" r:id="rId5"/>
          </p:cNvPr>
          <p:cNvCxnSpPr/>
          <p:nvPr/>
        </p:nvCxnSpPr>
        <p:spPr>
          <a:xfrm>
            <a:off x="8598817" y="250138"/>
            <a:ext cx="2163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1" name="Google Shape;71;p7">
            <a:hlinkClick action="ppaction://hlinksldjump" r:id="rId6"/>
          </p:cNvPr>
          <p:cNvCxnSpPr/>
          <p:nvPr/>
        </p:nvCxnSpPr>
        <p:spPr>
          <a:xfrm>
            <a:off x="8598817" y="283925"/>
            <a:ext cx="2163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2" name="Google Shape;72;p7"/>
          <p:cNvSpPr txBox="1"/>
          <p:nvPr>
            <p:ph type="title"/>
          </p:nvPr>
        </p:nvSpPr>
        <p:spPr>
          <a:xfrm>
            <a:off x="729450" y="2056375"/>
            <a:ext cx="58875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8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5" name="Google Shape;75;p8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76" name="Google Shape;76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8" name="Google Shape;78;p8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9" name="Google Shape;79;p8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80" name="Google Shape;80;p8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81" name="Google Shape;81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82" name="Google Shape;82;p8">
            <a:hlinkClick action="ppaction://hlinksldjump" r:id="rId2"/>
          </p:cNvPr>
          <p:cNvSpPr/>
          <p:nvPr/>
        </p:nvSpPr>
        <p:spPr>
          <a:xfrm>
            <a:off x="8280450" y="0"/>
            <a:ext cx="863400" cy="454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3" name="Google Shape;83;p8">
            <a:hlinkClick action="ppaction://hlinksldjump" r:id="rId3"/>
          </p:cNvPr>
          <p:cNvCxnSpPr/>
          <p:nvPr/>
        </p:nvCxnSpPr>
        <p:spPr>
          <a:xfrm>
            <a:off x="8598817" y="216350"/>
            <a:ext cx="2163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4" name="Google Shape;84;p8">
            <a:hlinkClick action="ppaction://hlinksldjump" r:id="rId4"/>
          </p:cNvPr>
          <p:cNvCxnSpPr/>
          <p:nvPr/>
        </p:nvCxnSpPr>
        <p:spPr>
          <a:xfrm>
            <a:off x="8598817" y="250138"/>
            <a:ext cx="2163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5" name="Google Shape;85;p8">
            <a:hlinkClick action="ppaction://hlinksldjump" r:id="rId5"/>
          </p:cNvPr>
          <p:cNvCxnSpPr/>
          <p:nvPr/>
        </p:nvCxnSpPr>
        <p:spPr>
          <a:xfrm>
            <a:off x="8598817" y="283925"/>
            <a:ext cx="2163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9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8" name="Google Shape;88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89" name="Google Shape;89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" name="Google Shape;90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1" name="Google Shape;91;p9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92" name="Google Shape;92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93" name="Google Shape;93;p9">
            <a:hlinkClick action="ppaction://hlinksldjump" r:id="rId2"/>
          </p:cNvPr>
          <p:cNvSpPr/>
          <p:nvPr/>
        </p:nvSpPr>
        <p:spPr>
          <a:xfrm>
            <a:off x="8280450" y="0"/>
            <a:ext cx="863400" cy="454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4" name="Google Shape;94;p9">
            <a:hlinkClick action="ppaction://hlinksldjump" r:id="rId3"/>
          </p:cNvPr>
          <p:cNvCxnSpPr/>
          <p:nvPr/>
        </p:nvCxnSpPr>
        <p:spPr>
          <a:xfrm>
            <a:off x="8598817" y="216350"/>
            <a:ext cx="2163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5" name="Google Shape;95;p9">
            <a:hlinkClick action="ppaction://hlinksldjump" r:id="rId4"/>
          </p:cNvPr>
          <p:cNvCxnSpPr/>
          <p:nvPr/>
        </p:nvCxnSpPr>
        <p:spPr>
          <a:xfrm>
            <a:off x="8598817" y="250138"/>
            <a:ext cx="2163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6" name="Google Shape;96;p9">
            <a:hlinkClick action="ppaction://hlinksldjump" r:id="rId5"/>
          </p:cNvPr>
          <p:cNvCxnSpPr/>
          <p:nvPr/>
        </p:nvCxnSpPr>
        <p:spPr>
          <a:xfrm>
            <a:off x="8598817" y="283925"/>
            <a:ext cx="2163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0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9" name="Google Shape;99;p10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00" name="Google Shape;100;p10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" name="Google Shape;101;p10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2" name="Google Shape;102;p10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03" name="Google Shape;103;p10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04" name="Google Shape;104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105" name="Google Shape;105;p10">
            <a:hlinkClick action="ppaction://hlinksldjump" r:id="rId2"/>
          </p:cNvPr>
          <p:cNvSpPr/>
          <p:nvPr/>
        </p:nvSpPr>
        <p:spPr>
          <a:xfrm>
            <a:off x="8280450" y="0"/>
            <a:ext cx="863400" cy="454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06" name="Google Shape;106;p10">
            <a:hlinkClick action="ppaction://hlinksldjump" r:id="rId3"/>
          </p:cNvPr>
          <p:cNvCxnSpPr/>
          <p:nvPr/>
        </p:nvCxnSpPr>
        <p:spPr>
          <a:xfrm>
            <a:off x="8598817" y="216350"/>
            <a:ext cx="2163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7" name="Google Shape;107;p10">
            <a:hlinkClick action="ppaction://hlinksldjump" r:id="rId4"/>
          </p:cNvPr>
          <p:cNvCxnSpPr/>
          <p:nvPr/>
        </p:nvCxnSpPr>
        <p:spPr>
          <a:xfrm>
            <a:off x="8598817" y="250138"/>
            <a:ext cx="2163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8" name="Google Shape;108;p10">
            <a:hlinkClick action="ppaction://hlinksldjump" r:id="rId5"/>
          </p:cNvPr>
          <p:cNvCxnSpPr/>
          <p:nvPr/>
        </p:nvCxnSpPr>
        <p:spPr>
          <a:xfrm>
            <a:off x="8598817" y="283925"/>
            <a:ext cx="2163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0" name="Google Shape;110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111" name="Google Shape;111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3" name="Google Shape;113;p11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4" name="Google Shape;114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115" name="Google Shape;115;p11">
            <a:hlinkClick action="ppaction://hlinksldjump" r:id="rId2"/>
          </p:cNvPr>
          <p:cNvSpPr/>
          <p:nvPr/>
        </p:nvSpPr>
        <p:spPr>
          <a:xfrm>
            <a:off x="8280450" y="0"/>
            <a:ext cx="863400" cy="454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6" name="Google Shape;116;p11">
            <a:hlinkClick action="ppaction://hlinksldjump" r:id="rId3"/>
          </p:cNvPr>
          <p:cNvCxnSpPr/>
          <p:nvPr/>
        </p:nvCxnSpPr>
        <p:spPr>
          <a:xfrm>
            <a:off x="8598817" y="216350"/>
            <a:ext cx="2163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7" name="Google Shape;117;p11">
            <a:hlinkClick action="ppaction://hlinksldjump" r:id="rId4"/>
          </p:cNvPr>
          <p:cNvCxnSpPr/>
          <p:nvPr/>
        </p:nvCxnSpPr>
        <p:spPr>
          <a:xfrm>
            <a:off x="8598817" y="250138"/>
            <a:ext cx="2163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8" name="Google Shape;118;p11">
            <a:hlinkClick action="ppaction://hlinksldjump" r:id="rId5"/>
          </p:cNvPr>
          <p:cNvCxnSpPr/>
          <p:nvPr/>
        </p:nvCxnSpPr>
        <p:spPr>
          <a:xfrm>
            <a:off x="8598817" y="283925"/>
            <a:ext cx="2163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2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21" name="Google Shape;121;p1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2" name="Google Shape;122;p1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4" name="Google Shape;124;p12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25" name="Google Shape;125;p12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26" name="Google Shape;126;p12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7" name="Google Shape;127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128" name="Google Shape;128;p12">
            <a:hlinkClick action="ppaction://hlinksldjump" r:id="rId2"/>
          </p:cNvPr>
          <p:cNvSpPr/>
          <p:nvPr/>
        </p:nvSpPr>
        <p:spPr>
          <a:xfrm>
            <a:off x="8280450" y="0"/>
            <a:ext cx="863400" cy="454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29" name="Google Shape;129;p12">
            <a:hlinkClick action="ppaction://hlinksldjump" r:id="rId3"/>
          </p:cNvPr>
          <p:cNvCxnSpPr/>
          <p:nvPr/>
        </p:nvCxnSpPr>
        <p:spPr>
          <a:xfrm>
            <a:off x="8598817" y="216350"/>
            <a:ext cx="2163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0" name="Google Shape;130;p12">
            <a:hlinkClick action="ppaction://hlinksldjump" r:id="rId4"/>
          </p:cNvPr>
          <p:cNvCxnSpPr/>
          <p:nvPr/>
        </p:nvCxnSpPr>
        <p:spPr>
          <a:xfrm>
            <a:off x="8598817" y="250138"/>
            <a:ext cx="2163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1" name="Google Shape;131;p12">
            <a:hlinkClick action="ppaction://hlinksldjump" r:id="rId5"/>
          </p:cNvPr>
          <p:cNvCxnSpPr/>
          <p:nvPr/>
        </p:nvCxnSpPr>
        <p:spPr>
          <a:xfrm>
            <a:off x="8598817" y="283925"/>
            <a:ext cx="2163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3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34" name="Google Shape;134;p1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135" name="Google Shape;135;p13">
            <a:hlinkClick action="ppaction://hlinksldjump" r:id="rId2"/>
          </p:cNvPr>
          <p:cNvSpPr/>
          <p:nvPr/>
        </p:nvSpPr>
        <p:spPr>
          <a:xfrm>
            <a:off x="8280450" y="0"/>
            <a:ext cx="863400" cy="454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36" name="Google Shape;136;p13">
            <a:hlinkClick action="ppaction://hlinksldjump" r:id="rId3"/>
          </p:cNvPr>
          <p:cNvCxnSpPr/>
          <p:nvPr/>
        </p:nvCxnSpPr>
        <p:spPr>
          <a:xfrm>
            <a:off x="8598817" y="216350"/>
            <a:ext cx="2163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7" name="Google Shape;137;p13">
            <a:hlinkClick action="ppaction://hlinksldjump" r:id="rId4"/>
          </p:cNvPr>
          <p:cNvCxnSpPr/>
          <p:nvPr/>
        </p:nvCxnSpPr>
        <p:spPr>
          <a:xfrm>
            <a:off x="8598817" y="250138"/>
            <a:ext cx="2163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8" name="Google Shape;138;p13">
            <a:hlinkClick action="ppaction://hlinksldjump" r:id="rId5"/>
          </p:cNvPr>
          <p:cNvCxnSpPr/>
          <p:nvPr/>
        </p:nvCxnSpPr>
        <p:spPr>
          <a:xfrm>
            <a:off x="8598817" y="283925"/>
            <a:ext cx="2163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0" name="Google Shape;140;p14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141" name="Google Shape;141;p1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" name="Google Shape;142;p1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3" name="Google Shape;143;p14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44" name="Google Shape;144;p14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5" name="Google Shape;145;p1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146" name="Google Shape;146;p14">
            <a:hlinkClick action="ppaction://hlinksldjump" r:id="rId2"/>
          </p:cNvPr>
          <p:cNvSpPr/>
          <p:nvPr/>
        </p:nvSpPr>
        <p:spPr>
          <a:xfrm>
            <a:off x="8280450" y="0"/>
            <a:ext cx="863400" cy="454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47" name="Google Shape;147;p14">
            <a:hlinkClick action="ppaction://hlinksldjump" r:id="rId3"/>
          </p:cNvPr>
          <p:cNvCxnSpPr/>
          <p:nvPr/>
        </p:nvCxnSpPr>
        <p:spPr>
          <a:xfrm>
            <a:off x="8598817" y="216350"/>
            <a:ext cx="2163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8" name="Google Shape;148;p14">
            <a:hlinkClick action="ppaction://hlinksldjump" r:id="rId4"/>
          </p:cNvPr>
          <p:cNvCxnSpPr/>
          <p:nvPr/>
        </p:nvCxnSpPr>
        <p:spPr>
          <a:xfrm>
            <a:off x="8598817" y="250138"/>
            <a:ext cx="2163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9" name="Google Shape;149;p14">
            <a:hlinkClick action="ppaction://hlinksldjump" r:id="rId5"/>
          </p:cNvPr>
          <p:cNvCxnSpPr/>
          <p:nvPr/>
        </p:nvCxnSpPr>
        <p:spPr>
          <a:xfrm>
            <a:off x="8598817" y="283925"/>
            <a:ext cx="2163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152" name="Google Shape;152;p15">
            <a:hlinkClick action="ppaction://hlinksldjump" r:id="rId2"/>
          </p:cNvPr>
          <p:cNvSpPr/>
          <p:nvPr/>
        </p:nvSpPr>
        <p:spPr>
          <a:xfrm>
            <a:off x="8280450" y="0"/>
            <a:ext cx="863400" cy="454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53" name="Google Shape;153;p15">
            <a:hlinkClick action="ppaction://hlinksldjump" r:id="rId3"/>
          </p:cNvPr>
          <p:cNvCxnSpPr/>
          <p:nvPr/>
        </p:nvCxnSpPr>
        <p:spPr>
          <a:xfrm>
            <a:off x="8598817" y="216350"/>
            <a:ext cx="2163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4" name="Google Shape;154;p15">
            <a:hlinkClick action="ppaction://hlinksldjump" r:id="rId4"/>
          </p:cNvPr>
          <p:cNvCxnSpPr/>
          <p:nvPr/>
        </p:nvCxnSpPr>
        <p:spPr>
          <a:xfrm>
            <a:off x="8598817" y="250138"/>
            <a:ext cx="2163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5" name="Google Shape;155;p15">
            <a:hlinkClick action="ppaction://hlinksldjump" r:id="rId5"/>
          </p:cNvPr>
          <p:cNvCxnSpPr/>
          <p:nvPr/>
        </p:nvCxnSpPr>
        <p:spPr>
          <a:xfrm>
            <a:off x="8598817" y="283925"/>
            <a:ext cx="2163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OC">
  <p:cSld name="SECTION_HEADER_1">
    <p:bg>
      <p:bgPr>
        <a:solidFill>
          <a:schemeClr val="dk1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6"/>
          <p:cNvSpPr txBox="1"/>
          <p:nvPr>
            <p:ph type="title"/>
          </p:nvPr>
        </p:nvSpPr>
        <p:spPr>
          <a:xfrm>
            <a:off x="1308150" y="1318650"/>
            <a:ext cx="71100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None/>
              <a:defRPr sz="2600">
                <a:solidFill>
                  <a:srgbClr val="FFFFFF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None/>
              <a:defRPr sz="2600">
                <a:solidFill>
                  <a:srgbClr val="FFFFFF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None/>
              <a:defRPr sz="2600">
                <a:solidFill>
                  <a:srgbClr val="FFFFFF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None/>
              <a:defRPr sz="2600">
                <a:solidFill>
                  <a:srgbClr val="FFFFFF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None/>
              <a:defRPr sz="2600">
                <a:solidFill>
                  <a:srgbClr val="FFFFFF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None/>
              <a:defRPr sz="2600">
                <a:solidFill>
                  <a:srgbClr val="FFFFFF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None/>
              <a:defRPr sz="2600">
                <a:solidFill>
                  <a:srgbClr val="FFFFFF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None/>
              <a:defRPr sz="2600">
                <a:solidFill>
                  <a:srgbClr val="FFFFFF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None/>
              <a:defRPr sz="26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158" name="Google Shape;158;p1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159" name="Google Shape;159;p16"/>
          <p:cNvSpPr txBox="1"/>
          <p:nvPr/>
        </p:nvSpPr>
        <p:spPr>
          <a:xfrm>
            <a:off x="226550" y="78500"/>
            <a:ext cx="998100" cy="32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Confidencial</a:t>
            </a:r>
            <a:endParaRPr b="1" sz="600">
              <a:solidFill>
                <a:srgbClr val="FFFFFF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60" name="Google Shape;160;p16"/>
          <p:cNvSpPr txBox="1"/>
          <p:nvPr/>
        </p:nvSpPr>
        <p:spPr>
          <a:xfrm>
            <a:off x="1296767" y="78500"/>
            <a:ext cx="2100600" cy="32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Personalizado para </a:t>
            </a:r>
            <a:r>
              <a:rPr b="1" lang="es" sz="6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Nombre de la empresa</a:t>
            </a:r>
            <a:endParaRPr sz="600">
              <a:solidFill>
                <a:srgbClr val="FFFFFF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61" name="Google Shape;161;p16"/>
          <p:cNvSpPr txBox="1"/>
          <p:nvPr/>
        </p:nvSpPr>
        <p:spPr>
          <a:xfrm>
            <a:off x="8213935" y="78500"/>
            <a:ext cx="705900" cy="32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s" sz="6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Versión 1.0</a:t>
            </a:r>
            <a:endParaRPr b="1" sz="600">
              <a:solidFill>
                <a:srgbClr val="FFFFFF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_alt1">
  <p:cSld name="SECTION_HEADER_2">
    <p:bg>
      <p:bgPr>
        <a:solidFill>
          <a:srgbClr val="434343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" name="Google Shape;163;p1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64" name="Google Shape;164;p1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" name="Google Shape;165;p1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6" name="Google Shape;166;p17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67" name="Google Shape;167;p1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168" name="Google Shape;168;p17">
            <a:hlinkClick action="ppaction://hlinksldjump" r:id="rId2"/>
          </p:cNvPr>
          <p:cNvSpPr/>
          <p:nvPr/>
        </p:nvSpPr>
        <p:spPr>
          <a:xfrm>
            <a:off x="8280450" y="0"/>
            <a:ext cx="863400" cy="454200"/>
          </a:xfrm>
          <a:prstGeom prst="rect">
            <a:avLst/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69" name="Google Shape;169;p17">
            <a:hlinkClick action="ppaction://hlinksldjump" r:id="rId3"/>
          </p:cNvPr>
          <p:cNvCxnSpPr/>
          <p:nvPr/>
        </p:nvCxnSpPr>
        <p:spPr>
          <a:xfrm>
            <a:off x="8598817" y="216350"/>
            <a:ext cx="2163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0" name="Google Shape;170;p17">
            <a:hlinkClick action="ppaction://hlinksldjump" r:id="rId4"/>
          </p:cNvPr>
          <p:cNvCxnSpPr/>
          <p:nvPr/>
        </p:nvCxnSpPr>
        <p:spPr>
          <a:xfrm>
            <a:off x="8598817" y="250138"/>
            <a:ext cx="2163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1" name="Google Shape;171;p17">
            <a:hlinkClick action="ppaction://hlinksldjump" r:id="rId5"/>
          </p:cNvPr>
          <p:cNvCxnSpPr/>
          <p:nvPr/>
        </p:nvCxnSpPr>
        <p:spPr>
          <a:xfrm>
            <a:off x="8598817" y="283925"/>
            <a:ext cx="2163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theme" Target="../theme/theme1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png"/><Relationship Id="rId4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Relationship Id="rId4" Type="http://schemas.openxmlformats.org/officeDocument/2006/relationships/image" Target="../media/image2.png"/><Relationship Id="rId5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8"/>
          <p:cNvSpPr txBox="1"/>
          <p:nvPr>
            <p:ph type="ctrTitle"/>
          </p:nvPr>
        </p:nvSpPr>
        <p:spPr>
          <a:xfrm>
            <a:off x="729575" y="1972100"/>
            <a:ext cx="4890900" cy="94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4800">
                <a:solidFill>
                  <a:srgbClr val="000000"/>
                </a:solidFill>
              </a:rPr>
              <a:t>Haplohash</a:t>
            </a:r>
            <a:endParaRPr/>
          </a:p>
        </p:txBody>
      </p:sp>
      <p:sp>
        <p:nvSpPr>
          <p:cNvPr id="177" name="Google Shape;177;p18"/>
          <p:cNvSpPr txBox="1"/>
          <p:nvPr>
            <p:ph idx="1" type="subTitle"/>
          </p:nvPr>
        </p:nvSpPr>
        <p:spPr>
          <a:xfrm>
            <a:off x="729563" y="2845297"/>
            <a:ext cx="48909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400"/>
              <a:t>Team 11</a:t>
            </a:r>
            <a:endParaRPr b="1" sz="1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9"/>
          <p:cNvSpPr txBox="1"/>
          <p:nvPr/>
        </p:nvSpPr>
        <p:spPr>
          <a:xfrm>
            <a:off x="1288200" y="1880650"/>
            <a:ext cx="6567600" cy="20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Raleway"/>
              <a:buAutoNum type="arabicPeriod"/>
            </a:pPr>
            <a:r>
              <a:rPr lang="es" sz="13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DNA and variants</a:t>
            </a:r>
            <a:endParaRPr sz="1300">
              <a:solidFill>
                <a:srgbClr val="FFFFFF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Raleway"/>
              <a:buAutoNum type="arabicPeriod"/>
            </a:pPr>
            <a:r>
              <a:rPr lang="es" sz="13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Haploblocks + purifying selections</a:t>
            </a:r>
            <a:endParaRPr sz="1300">
              <a:solidFill>
                <a:srgbClr val="FFFFFF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Raleway"/>
              <a:buAutoNum type="arabicPeriod"/>
            </a:pPr>
            <a:r>
              <a:rPr lang="es" sz="13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Alphagene predictions </a:t>
            </a:r>
            <a:endParaRPr sz="1300">
              <a:solidFill>
                <a:srgbClr val="FFFFFF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Raleway"/>
              <a:buAutoNum type="arabicPeriod"/>
            </a:pPr>
            <a:r>
              <a:rPr lang="es" sz="13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Aggregating those predictions to haploblocks</a:t>
            </a:r>
            <a:endParaRPr sz="1300">
              <a:solidFill>
                <a:srgbClr val="FFFFFF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Raleway"/>
              <a:buAutoNum type="arabicPeriod"/>
            </a:pPr>
            <a:r>
              <a:rPr lang="es" sz="13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Checking with eQTLs</a:t>
            </a:r>
            <a:endParaRPr sz="1300">
              <a:solidFill>
                <a:srgbClr val="FFFFFF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Raleway"/>
              <a:buAutoNum type="arabicPeriod"/>
            </a:pPr>
            <a:r>
              <a:rPr lang="es" sz="13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Results from haploblocks</a:t>
            </a:r>
            <a:endParaRPr sz="1300">
              <a:solidFill>
                <a:srgbClr val="FFFFFF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Raleway"/>
              <a:buAutoNum type="arabicPeriod"/>
            </a:pPr>
            <a:r>
              <a:rPr lang="es" sz="13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Biological annotations</a:t>
            </a:r>
            <a:endParaRPr sz="1300">
              <a:solidFill>
                <a:srgbClr val="FFFFFF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Raleway"/>
              <a:buAutoNum type="arabicPeriod"/>
            </a:pPr>
            <a:r>
              <a:rPr lang="es" sz="13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Hashing now</a:t>
            </a:r>
            <a:endParaRPr sz="1300">
              <a:solidFill>
                <a:srgbClr val="FFFFFF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Raleway"/>
              <a:buAutoNum type="arabicPeriod"/>
            </a:pPr>
            <a:r>
              <a:rPr lang="es" sz="13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Trying to </a:t>
            </a:r>
            <a:r>
              <a:rPr lang="es" sz="13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hack those hashes</a:t>
            </a:r>
            <a:endParaRPr sz="1300">
              <a:solidFill>
                <a:srgbClr val="FFFFFF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83" name="Google Shape;183;p19"/>
          <p:cNvSpPr txBox="1"/>
          <p:nvPr/>
        </p:nvSpPr>
        <p:spPr>
          <a:xfrm>
            <a:off x="1288200" y="1242525"/>
            <a:ext cx="71100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6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Proposed index</a:t>
            </a:r>
            <a:endParaRPr b="1" sz="2600">
              <a:solidFill>
                <a:srgbClr val="FFFFFF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0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Our task</a:t>
            </a:r>
            <a:endParaRPr/>
          </a:p>
        </p:txBody>
      </p:sp>
      <p:sp>
        <p:nvSpPr>
          <p:cNvPr id="189" name="Google Shape;189;p20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AutoNum type="arabicPeriod"/>
            </a:pPr>
            <a:r>
              <a:rPr lang="es">
                <a:solidFill>
                  <a:schemeClr val="dk2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Score all the </a:t>
            </a:r>
            <a:r>
              <a:rPr b="1" lang="es">
                <a:solidFill>
                  <a:schemeClr val="dk2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variants</a:t>
            </a:r>
            <a:r>
              <a:rPr lang="es">
                <a:solidFill>
                  <a:schemeClr val="dk2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 in the haploblocks with Alphagenome atlas to help us to</a:t>
            </a:r>
            <a:r>
              <a:rPr lang="es" spc="16">
                <a:solidFill>
                  <a:schemeClr val="dk2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 interpret how genetic variations impact biology at a molecular level</a:t>
            </a:r>
            <a:endParaRPr spc="16">
              <a:solidFill>
                <a:schemeClr val="dk2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AutoNum type="arabicPeriod"/>
            </a:pPr>
            <a:r>
              <a:rPr lang="es" spc="16">
                <a:solidFill>
                  <a:schemeClr val="dk2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Annotate all the variants with additional biological information</a:t>
            </a:r>
            <a:endParaRPr spc="16">
              <a:solidFill>
                <a:schemeClr val="dk2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AutoNum type="arabicPeriod"/>
            </a:pPr>
            <a:r>
              <a:rPr lang="es" spc="16">
                <a:solidFill>
                  <a:schemeClr val="dk2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Put those variants, AVI scores and functional annotations to hash for anonymisation</a:t>
            </a:r>
            <a:endParaRPr spc="16">
              <a:solidFill>
                <a:schemeClr val="dk2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AutoNum type="arabicPeriod"/>
            </a:pPr>
            <a:r>
              <a:rPr lang="es" spc="16">
                <a:solidFill>
                  <a:schemeClr val="dk2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Try to reverse engineer the anonymisation, to see if it is secure</a:t>
            </a:r>
            <a:endParaRPr spc="16">
              <a:solidFill>
                <a:schemeClr val="dk2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1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What are haploblocks </a:t>
            </a:r>
            <a:endParaRPr/>
          </a:p>
        </p:txBody>
      </p:sp>
      <p:sp>
        <p:nvSpPr>
          <p:cNvPr id="195" name="Google Shape;195;p21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196" name="Google Shape;196;p21" title="Gemini_Generated_Image_wb9bgbwb9bgbwb9b.jpg"/>
          <p:cNvPicPr preferRelativeResize="0"/>
          <p:nvPr/>
        </p:nvPicPr>
        <p:blipFill rotWithShape="1">
          <a:blip r:embed="rId3">
            <a:alphaModFix/>
          </a:blip>
          <a:srcRect b="0" l="0" r="0" t="29274"/>
          <a:stretch/>
        </p:blipFill>
        <p:spPr>
          <a:xfrm>
            <a:off x="729451" y="1896575"/>
            <a:ext cx="8074049" cy="31148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2"/>
          <p:cNvSpPr txBox="1"/>
          <p:nvPr>
            <p:ph type="title"/>
          </p:nvPr>
        </p:nvSpPr>
        <p:spPr>
          <a:xfrm>
            <a:off x="729450" y="1318650"/>
            <a:ext cx="28761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What is Alphagenome</a:t>
            </a:r>
            <a:endParaRPr/>
          </a:p>
        </p:txBody>
      </p:sp>
      <p:sp>
        <p:nvSpPr>
          <p:cNvPr id="202" name="Google Shape;202;p22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203" name="Google Shape;203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88113" y="644000"/>
            <a:ext cx="4874425" cy="43457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3"/>
          <p:cNvSpPr txBox="1"/>
          <p:nvPr>
            <p:ph type="title"/>
          </p:nvPr>
        </p:nvSpPr>
        <p:spPr>
          <a:xfrm>
            <a:off x="714050" y="569650"/>
            <a:ext cx="5673900" cy="95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Introduction</a:t>
            </a:r>
            <a:r>
              <a:rPr lang="es"/>
              <a:t> to Haploblocks </a:t>
            </a:r>
            <a:endParaRPr/>
          </a:p>
        </p:txBody>
      </p:sp>
      <p:pic>
        <p:nvPicPr>
          <p:cNvPr id="209" name="Google Shape;209;p23" title="haploblocks_pipeline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3200" y="1433400"/>
            <a:ext cx="4139750" cy="27598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68575" y="1433388"/>
            <a:ext cx="4719443" cy="2759874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3"/>
          <p:cNvSpPr txBox="1"/>
          <p:nvPr/>
        </p:nvSpPr>
        <p:spPr>
          <a:xfrm>
            <a:off x="5962575" y="4584675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https://www.haploblocks.org/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4"/>
          <p:cNvSpPr txBox="1"/>
          <p:nvPr/>
        </p:nvSpPr>
        <p:spPr>
          <a:xfrm>
            <a:off x="598075" y="4101125"/>
            <a:ext cx="62712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900"/>
          </a:p>
        </p:txBody>
      </p:sp>
      <p:sp>
        <p:nvSpPr>
          <p:cNvPr id="217" name="Google Shape;217;p24"/>
          <p:cNvSpPr txBox="1"/>
          <p:nvPr/>
        </p:nvSpPr>
        <p:spPr>
          <a:xfrm>
            <a:off x="323275" y="331825"/>
            <a:ext cx="8349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How can we be sure that AVI scores from Alphagenome match real biology? </a:t>
            </a:r>
            <a:endParaRPr/>
          </a:p>
        </p:txBody>
      </p:sp>
      <p:pic>
        <p:nvPicPr>
          <p:cNvPr id="218" name="Google Shape;218;p24" title="avi_vs_eqtl_publicatio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2013" y="1004025"/>
            <a:ext cx="4397328" cy="2910500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24"/>
          <p:cNvSpPr txBox="1"/>
          <p:nvPr/>
        </p:nvSpPr>
        <p:spPr>
          <a:xfrm>
            <a:off x="0" y="0"/>
            <a:ext cx="30000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500">
                <a:latin typeface="Raleway"/>
                <a:ea typeface="Raleway"/>
                <a:cs typeface="Raleway"/>
                <a:sym typeface="Raleway"/>
              </a:rPr>
              <a:t>consistency check</a:t>
            </a:r>
            <a:endParaRPr sz="500"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5"/>
          <p:cNvSpPr txBox="1"/>
          <p:nvPr>
            <p:ph type="title"/>
          </p:nvPr>
        </p:nvSpPr>
        <p:spPr>
          <a:xfrm>
            <a:off x="50375" y="514350"/>
            <a:ext cx="8852700" cy="95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Genomic constraint negatively </a:t>
            </a:r>
            <a:r>
              <a:rPr lang="es"/>
              <a:t>associated with AVI</a:t>
            </a:r>
            <a:r>
              <a:rPr lang="es"/>
              <a:t>  </a:t>
            </a:r>
            <a:endParaRPr/>
          </a:p>
        </p:txBody>
      </p:sp>
      <p:pic>
        <p:nvPicPr>
          <p:cNvPr id="225" name="Google Shape;225;p25" title="panel_linear_avi_top1_per_kb_c_loglog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40024" y="1277125"/>
            <a:ext cx="4063048" cy="3834898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p25" title="panel_linear_avi_mean_b_log10_x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5975" y="1346275"/>
            <a:ext cx="3916524" cy="36966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34343"/>
        </a:solidFill>
      </p:bgPr>
    </p:bg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26"/>
          <p:cNvSpPr txBox="1"/>
          <p:nvPr>
            <p:ph type="title"/>
          </p:nvPr>
        </p:nvSpPr>
        <p:spPr>
          <a:xfrm>
            <a:off x="670550" y="363900"/>
            <a:ext cx="7010100" cy="35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300"/>
              <a:t>Biological annotations for haploblock regions</a:t>
            </a:r>
            <a:endParaRPr sz="2300"/>
          </a:p>
        </p:txBody>
      </p:sp>
      <p:sp>
        <p:nvSpPr>
          <p:cNvPr id="232" name="Google Shape;232;p26"/>
          <p:cNvSpPr txBox="1"/>
          <p:nvPr>
            <p:ph idx="4294967295" type="body"/>
          </p:nvPr>
        </p:nvSpPr>
        <p:spPr>
          <a:xfrm>
            <a:off x="720700" y="714600"/>
            <a:ext cx="4323300" cy="41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s" sz="1500">
                <a:solidFill>
                  <a:srgbClr val="FFFFFF"/>
                </a:solidFill>
              </a:rPr>
              <a:t>And functional analysis based on this annotations </a:t>
            </a:r>
            <a:endParaRPr sz="1500">
              <a:solidFill>
                <a:srgbClr val="FFFFFF"/>
              </a:solidFill>
            </a:endParaRPr>
          </a:p>
        </p:txBody>
      </p:sp>
      <p:pic>
        <p:nvPicPr>
          <p:cNvPr id="233" name="Google Shape;233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9725" y="1692589"/>
            <a:ext cx="2904873" cy="225818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234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03761" y="1690720"/>
            <a:ext cx="2904871" cy="2261922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" name="Google Shape;235;p2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047797" y="1682375"/>
            <a:ext cx="2936477" cy="2278612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26"/>
          <p:cNvSpPr txBox="1"/>
          <p:nvPr>
            <p:ph idx="4294967295" type="body"/>
          </p:nvPr>
        </p:nvSpPr>
        <p:spPr>
          <a:xfrm>
            <a:off x="806625" y="3950775"/>
            <a:ext cx="2042400" cy="41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b="1" i="1" lang="es" sz="1500">
                <a:solidFill>
                  <a:srgbClr val="FFFFFF"/>
                </a:solidFill>
              </a:rPr>
              <a:t>Molecular function</a:t>
            </a:r>
            <a:endParaRPr b="1" i="1" sz="1500">
              <a:solidFill>
                <a:srgbClr val="FFFFFF"/>
              </a:solidFill>
            </a:endParaRPr>
          </a:p>
        </p:txBody>
      </p:sp>
      <p:sp>
        <p:nvSpPr>
          <p:cNvPr id="237" name="Google Shape;237;p26"/>
          <p:cNvSpPr txBox="1"/>
          <p:nvPr>
            <p:ph idx="4294967295" type="body"/>
          </p:nvPr>
        </p:nvSpPr>
        <p:spPr>
          <a:xfrm>
            <a:off x="3671075" y="3950775"/>
            <a:ext cx="2042400" cy="41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b="1" i="1" lang="es" sz="1500">
                <a:solidFill>
                  <a:srgbClr val="FFFFFF"/>
                </a:solidFill>
              </a:rPr>
              <a:t>Biological process</a:t>
            </a:r>
            <a:endParaRPr b="1" i="1" sz="1500">
              <a:solidFill>
                <a:srgbClr val="FFFFFF"/>
              </a:solidFill>
            </a:endParaRPr>
          </a:p>
        </p:txBody>
      </p:sp>
      <p:sp>
        <p:nvSpPr>
          <p:cNvPr id="238" name="Google Shape;238;p26"/>
          <p:cNvSpPr txBox="1"/>
          <p:nvPr>
            <p:ph idx="4294967295" type="body"/>
          </p:nvPr>
        </p:nvSpPr>
        <p:spPr>
          <a:xfrm>
            <a:off x="6743775" y="3950775"/>
            <a:ext cx="2042400" cy="41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b="1" i="1" lang="es" sz="1500">
                <a:solidFill>
                  <a:srgbClr val="FFFFFF"/>
                </a:solidFill>
              </a:rPr>
              <a:t>Cellular component</a:t>
            </a:r>
            <a:endParaRPr b="1" i="1" sz="15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27"/>
          <p:cNvSpPr txBox="1"/>
          <p:nvPr>
            <p:ph type="title"/>
          </p:nvPr>
        </p:nvSpPr>
        <p:spPr>
          <a:xfrm>
            <a:off x="714050" y="569650"/>
            <a:ext cx="5673900" cy="95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Hashing </a:t>
            </a:r>
            <a:endParaRPr/>
          </a:p>
        </p:txBody>
      </p:sp>
      <p:pic>
        <p:nvPicPr>
          <p:cNvPr id="244" name="Google Shape;244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61300" y="916950"/>
            <a:ext cx="3267950" cy="2213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" name="Google Shape;245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85375" y="3269450"/>
            <a:ext cx="3358625" cy="1432500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27"/>
          <p:cNvSpPr txBox="1"/>
          <p:nvPr/>
        </p:nvSpPr>
        <p:spPr>
          <a:xfrm>
            <a:off x="697975" y="1317525"/>
            <a:ext cx="1173000" cy="3471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39.000 blocks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47" name="Google Shape;247;p27"/>
          <p:cNvSpPr txBox="1"/>
          <p:nvPr/>
        </p:nvSpPr>
        <p:spPr>
          <a:xfrm>
            <a:off x="1982600" y="1317525"/>
            <a:ext cx="1398000" cy="3471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2548 individuals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48" name="Google Shape;248;p27"/>
          <p:cNvSpPr txBox="1"/>
          <p:nvPr/>
        </p:nvSpPr>
        <p:spPr>
          <a:xfrm>
            <a:off x="3460575" y="1308539"/>
            <a:ext cx="1398000" cy="3471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5096 haplotypes 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49" name="Google Shape;249;p27"/>
          <p:cNvSpPr txBox="1"/>
          <p:nvPr/>
        </p:nvSpPr>
        <p:spPr>
          <a:xfrm>
            <a:off x="714050" y="1811375"/>
            <a:ext cx="2037300" cy="3471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7.7 M singletons clusters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50" name="Google Shape;250;p27"/>
          <p:cNvSpPr txBox="1"/>
          <p:nvPr/>
        </p:nvSpPr>
        <p:spPr>
          <a:xfrm>
            <a:off x="2861300" y="1811375"/>
            <a:ext cx="2406300" cy="3471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91% blocks contains singleton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51" name="Google Shape;251;p27"/>
          <p:cNvSpPr txBox="1"/>
          <p:nvPr/>
        </p:nvSpPr>
        <p:spPr>
          <a:xfrm>
            <a:off x="697975" y="2710675"/>
            <a:ext cx="3403200" cy="3471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Top 5000 worst blocks -&gt;  50%  data loss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52" name="Google Shape;252;p27"/>
          <p:cNvSpPr txBox="1"/>
          <p:nvPr/>
        </p:nvSpPr>
        <p:spPr>
          <a:xfrm>
            <a:off x="697975" y="3150600"/>
            <a:ext cx="3403200" cy="3471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Eliminating Singletons </a:t>
            </a:r>
            <a:r>
              <a:rPr lang="es" sz="12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 -&gt;  91 % data loss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53" name="Google Shape;253;p27"/>
          <p:cNvSpPr txBox="1"/>
          <p:nvPr/>
        </p:nvSpPr>
        <p:spPr>
          <a:xfrm>
            <a:off x="531950" y="2305225"/>
            <a:ext cx="51759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Suppression: </a:t>
            </a:r>
            <a:endParaRPr b="1"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54" name="Google Shape;254;p27"/>
          <p:cNvSpPr txBox="1"/>
          <p:nvPr/>
        </p:nvSpPr>
        <p:spPr>
          <a:xfrm>
            <a:off x="485400" y="3590525"/>
            <a:ext cx="51759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Fix</a:t>
            </a:r>
            <a:r>
              <a:rPr b="1" lang="es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b="1" lang="es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: </a:t>
            </a:r>
            <a:endParaRPr b="1"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55" name="Google Shape;255;p27"/>
          <p:cNvSpPr txBox="1"/>
          <p:nvPr/>
        </p:nvSpPr>
        <p:spPr>
          <a:xfrm>
            <a:off x="697975" y="3899850"/>
            <a:ext cx="36621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Lato"/>
              <a:buChar char="●"/>
            </a:pPr>
            <a:r>
              <a:rPr lang="es" sz="12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Optimized the hash</a:t>
            </a:r>
            <a:endParaRPr sz="12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Lato"/>
              <a:buChar char="●"/>
            </a:pPr>
            <a:r>
              <a:rPr lang="es" sz="12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per-cluster k-anonymity, k=2 </a:t>
            </a:r>
            <a:endParaRPr sz="12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Lato"/>
              <a:buChar char="○"/>
            </a:pPr>
            <a:r>
              <a:rPr lang="es" sz="12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(block, cluster)</a:t>
            </a:r>
            <a:endParaRPr sz="12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Lato"/>
              <a:buChar char="●"/>
            </a:pPr>
            <a:r>
              <a:rPr b="1" lang="es" sz="12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3.9</a:t>
            </a:r>
            <a:r>
              <a:rPr lang="es" sz="12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% of the dataset suppressed</a:t>
            </a:r>
            <a:endParaRPr sz="12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Lato"/>
              <a:buChar char="●"/>
            </a:pPr>
            <a:r>
              <a:rPr lang="es" sz="12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AVI scores,  and </a:t>
            </a:r>
            <a:r>
              <a:rPr lang="es" sz="12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annotation </a:t>
            </a:r>
            <a:r>
              <a:rPr lang="es" sz="12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are block level 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